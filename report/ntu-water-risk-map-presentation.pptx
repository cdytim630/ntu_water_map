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0fd4aa5304968" /><Relationship Type="http://schemas.openxmlformats.org/officeDocument/2006/relationships/extended-properties" Target="/docProps/app.xml" Id="Rb20eae92c2124ea2" /><Relationship Type="http://schemas.openxmlformats.org/officeDocument/2006/relationships/officeDocument" Target="/ppt/presentation.xml" Id="R44a7557f781b45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a5f1d85ee4f0a"/>
  </p:sldMasterIdLst>
  <p:notesMasterIdLst>
    <p:notesMasterId xmlns:r="http://schemas.openxmlformats.org/officeDocument/2006/relationships" r:id="R596dcc2e1f9f4424"/>
  </p:notesMasterIdLst>
  <p:sldIdLst>
    <p:sldId xmlns:r="http://schemas.openxmlformats.org/officeDocument/2006/relationships" id="256" r:id="Re7b03ceaaa204eea"/>
    <p:sldId xmlns:r="http://schemas.openxmlformats.org/officeDocument/2006/relationships" id="257" r:id="R6e32fbe7a93542ad"/>
    <p:sldId xmlns:r="http://schemas.openxmlformats.org/officeDocument/2006/relationships" id="258" r:id="R360397ba6a7a4949"/>
    <p:sldId xmlns:r="http://schemas.openxmlformats.org/officeDocument/2006/relationships" id="259" r:id="R184235e06c41498d"/>
    <p:sldId xmlns:r="http://schemas.openxmlformats.org/officeDocument/2006/relationships" id="260" r:id="Rb67a200b634f4bef"/>
    <p:sldId xmlns:r="http://schemas.openxmlformats.org/officeDocument/2006/relationships" id="261" r:id="Rc2fbf01fd46442a8"/>
    <p:sldId xmlns:r="http://schemas.openxmlformats.org/officeDocument/2006/relationships" id="262" r:id="R6f381dfd82114c97"/>
    <p:sldId xmlns:r="http://schemas.openxmlformats.org/officeDocument/2006/relationships" id="263" r:id="R238790f8f8c045fe"/>
    <p:sldId xmlns:r="http://schemas.openxmlformats.org/officeDocument/2006/relationships" id="264" r:id="Rae78837edf774540"/>
    <p:sldId xmlns:r="http://schemas.openxmlformats.org/officeDocument/2006/relationships" id="265" r:id="R6c6b1e8ab77845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41355bfe74ad3" /><Relationship Type="http://schemas.openxmlformats.org/officeDocument/2006/relationships/slideMaster" Target="/ppt/slideMasters/slideMaster1.xml" Id="Re9aa5f1d85ee4f0a" /><Relationship Type="http://schemas.openxmlformats.org/officeDocument/2006/relationships/notesMaster" Target="/ppt/notesMasters/notesMaster1.xml" Id="R596dcc2e1f9f4424" /><Relationship Type="http://schemas.openxmlformats.org/officeDocument/2006/relationships/presProps" Target="/ppt/presProps.xml" Id="Rb748da0736814a10" /><Relationship Type="http://schemas.openxmlformats.org/officeDocument/2006/relationships/viewProps" Target="/ppt/viewProps.xml" Id="Rd0ddcb86d56848b4" /><Relationship Type="http://schemas.openxmlformats.org/officeDocument/2006/relationships/tableStyles" Target="/ppt/tableStyles.xml" Id="Rdece5346f02a4f34" /><Relationship Type="http://schemas.openxmlformats.org/officeDocument/2006/relationships/slide" Target="/ppt/slides/slide1.xml" Id="Re7b03ceaaa204eea" /><Relationship Type="http://schemas.openxmlformats.org/officeDocument/2006/relationships/slide" Target="/ppt/slides/slide2.xml" Id="R6e32fbe7a93542ad" /><Relationship Type="http://schemas.openxmlformats.org/officeDocument/2006/relationships/slide" Target="/ppt/slides/slide3.xml" Id="R360397ba6a7a4949" /><Relationship Type="http://schemas.openxmlformats.org/officeDocument/2006/relationships/slide" Target="/ppt/slides/slide4.xml" Id="R184235e06c41498d" /><Relationship Type="http://schemas.openxmlformats.org/officeDocument/2006/relationships/slide" Target="/ppt/slides/slide5.xml" Id="Rb67a200b634f4bef" /><Relationship Type="http://schemas.openxmlformats.org/officeDocument/2006/relationships/slide" Target="/ppt/slides/slide6.xml" Id="Rc2fbf01fd46442a8" /><Relationship Type="http://schemas.openxmlformats.org/officeDocument/2006/relationships/slide" Target="/ppt/slides/slide7.xml" Id="R6f381dfd82114c97" /><Relationship Type="http://schemas.openxmlformats.org/officeDocument/2006/relationships/slide" Target="/ppt/slides/slide8.xml" Id="R238790f8f8c045fe" /><Relationship Type="http://schemas.openxmlformats.org/officeDocument/2006/relationships/slide" Target="/ppt/slides/slide9.xml" Id="Rae78837edf774540" /><Relationship Type="http://schemas.openxmlformats.org/officeDocument/2006/relationships/slide" Target="/ppt/slides/slide10.xml" Id="R6c6b1e8ab778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b3c28235b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7ab24d639f4a06" /><Relationship Type="http://schemas.openxmlformats.org/officeDocument/2006/relationships/notesMaster" Target="/ppt/notesMasters/notesMaster1.xml" Id="R509cf5703f61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d54cd566014d6a" /><Relationship Type="http://schemas.openxmlformats.org/officeDocument/2006/relationships/notesMaster" Target="/ppt/notesMasters/notesMaster1.xml" Id="R77e64132a12b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5f443ad9e46f7" /><Relationship Type="http://schemas.openxmlformats.org/officeDocument/2006/relationships/notesMaster" Target="/ppt/notesMasters/notesMaster1.xml" Id="Rd33712cb93f545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f5d1cf42034109" /><Relationship Type="http://schemas.openxmlformats.org/officeDocument/2006/relationships/notesMaster" Target="/ppt/notesMasters/notesMaster1.xml" Id="R91762652faa5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19a37eaede40c7" /><Relationship Type="http://schemas.openxmlformats.org/officeDocument/2006/relationships/notesMaster" Target="/ppt/notesMasters/notesMaster1.xml" Id="R6d3995ab9abf47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8319a8a0847cf" /><Relationship Type="http://schemas.openxmlformats.org/officeDocument/2006/relationships/notesMaster" Target="/ppt/notesMasters/notesMaster1.xml" Id="R84aedfe0d1ba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f9aa0bb884bc5" /><Relationship Type="http://schemas.openxmlformats.org/officeDocument/2006/relationships/notesMaster" Target="/ppt/notesMasters/notesMaster1.xml" Id="R0590e858e965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ed8d88b93e4b1b" /><Relationship Type="http://schemas.openxmlformats.org/officeDocument/2006/relationships/notesMaster" Target="/ppt/notesMasters/notesMaster1.xml" Id="Rf0da9f2424b34b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2d8c61b4b44c2f" /><Relationship Type="http://schemas.openxmlformats.org/officeDocument/2006/relationships/notesMaster" Target="/ppt/notesMasters/notesMaster1.xml" Id="Re0374ef9e93541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0fce673c94759" /><Relationship Type="http://schemas.openxmlformats.org/officeDocument/2006/relationships/notesMaster" Target="/ppt/notesMasters/notesMaster1.xml" Id="R198f77e012a04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3ce949a8f42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f861b04114fea" /><Relationship Type="http://schemas.openxmlformats.org/officeDocument/2006/relationships/slideLayout" Target="/ppt/slideLayouts/slideLayout1.xml" Id="R8b957c9deafa49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957c9deafa49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2cb9a94084909" /><Relationship Type="http://schemas.openxmlformats.org/officeDocument/2006/relationships/image" Target="/ppt/media/image.png" Id="R325623079cbd4a1d" /><Relationship Type="http://schemas.openxmlformats.org/officeDocument/2006/relationships/notesSlide" Target="/ppt/notesSlides/notesSlide1.xml" Id="Ra6fa7022c88647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475b6ab794da8" /><Relationship Type="http://schemas.openxmlformats.org/officeDocument/2006/relationships/notesSlide" Target="/ppt/notesSlides/notesSlide2.xml" Id="Rb228a1a1f87c4c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2c1faca914e87" /><Relationship Type="http://schemas.openxmlformats.org/officeDocument/2006/relationships/notesSlide" Target="/ppt/notesSlides/notesSlide3.xml" Id="R0cd022e6b6dc41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d5e011aec4336" /><Relationship Type="http://schemas.openxmlformats.org/officeDocument/2006/relationships/image" Target="/ppt/media/image2.png" Id="R9a26ddf6cfb64c47" /><Relationship Type="http://schemas.openxmlformats.org/officeDocument/2006/relationships/notesSlide" Target="/ppt/notesSlides/notesSlide4.xml" Id="Rbff515fe1ad842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d26b88ff649b4" /><Relationship Type="http://schemas.openxmlformats.org/officeDocument/2006/relationships/image" Target="/ppt/media/image3.png" Id="R62ae25299fc04bb6" /><Relationship Type="http://schemas.openxmlformats.org/officeDocument/2006/relationships/notesSlide" Target="/ppt/notesSlides/notesSlide5.xml" Id="Rb72a86cc47bf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69ff337104db9" /><Relationship Type="http://schemas.openxmlformats.org/officeDocument/2006/relationships/image" Target="/ppt/media/image4.png" Id="Rd0912934714d4a07" /><Relationship Type="http://schemas.openxmlformats.org/officeDocument/2006/relationships/notesSlide" Target="/ppt/notesSlides/notesSlide6.xml" Id="Rabaa218e2a2b41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46d1f2d6e4bda" /><Relationship Type="http://schemas.openxmlformats.org/officeDocument/2006/relationships/image" Target="/ppt/media/image5.png" Id="Ra6f9c7f53bcd4e2b" /><Relationship Type="http://schemas.openxmlformats.org/officeDocument/2006/relationships/notesSlide" Target="/ppt/notesSlides/notesSlide7.xml" Id="Rd3938332558747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194ca83c64ee0" /><Relationship Type="http://schemas.openxmlformats.org/officeDocument/2006/relationships/image" Target="/ppt/media/image6.png" Id="Ra722d9bcad824ae8" /><Relationship Type="http://schemas.openxmlformats.org/officeDocument/2006/relationships/notesSlide" Target="/ppt/notesSlides/notesSlide8.xml" Id="R631d27d81c59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5183792ad49c9" /><Relationship Type="http://schemas.openxmlformats.org/officeDocument/2006/relationships/notesSlide" Target="/ppt/notesSlides/notesSlide9.xml" Id="Rf0ece7b60d394c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978d16c984d3c" /><Relationship Type="http://schemas.openxmlformats.org/officeDocument/2006/relationships/notesSlide" Target="/ppt/notesSlides/notesSlide10.xml" Id="R9915596ce5da46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3F58C-11CC-46C0-9C16-54E5AF93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rPr>
              <a:t>NTU Water Resource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B7350-B2DC-4833-B892-DFD12D94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台大水資源問題地圖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0F1A-4E27-4691-8FDE-D279E311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rPr>
              <a:t>把積水回報、飲水機狀態、即時雨勢與校園路網整合成可直接使用的校園工具。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1AF0A-3D63-4C2C-8766-B521C61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238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A85A2-CBB6-4F5C-B3DA-E253DDC4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44091-36BF-4A3B-B42E-38159AEA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主要頁面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63A18-BC06-4D2C-82B4-2029F74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F8FC7-D3A8-4E1A-A68E-20056C0B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C5F03-AC10-4A8A-BC4E-DAB5D1DB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API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C64A6-7A92-432E-83B5-0C3A24CA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4330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55296-076C-4F5B-87A7-E52A9BD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6,133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9BBF8-AB73-4987-9D80-52B0835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148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路網節點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D9F96-0CE0-41B3-88BB-7BFFEE5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4330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FAABF-71EF-42CA-B754-A6B435F3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766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rPr>
              <a:t>7,248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C9588-FDFF-47A2-8EDE-3E2B8C8B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148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路網邊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8872F-0157-43A4-B8BC-72C0B21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2450"/>
            <a:ext cx="4476750" cy="54292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623079cbd4a1d"/>
          <a:stretch xmlns:a="http://schemas.openxmlformats.org/drawingml/2006/main"/>
        </p:blipFill>
        <p:spPr>
          <a:xfrm xmlns:a="http://schemas.openxmlformats.org/drawingml/2006/main">
            <a:off x="7296150" y="1932384"/>
            <a:ext cx="4057650" cy="2536031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1553B-CFC8-4E44-8C73-D6E5F22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A5E9">
              <a:alpha val="12549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Final Report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73E2A-3CF6-4ED8-9B9B-029FFAD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72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CBD5E1"/>
                </a:solidFill>
                <a:latin typeface="Microsoft JhengHei"/>
                <a:ea typeface="Microsoft JhengHei"/>
                <a:cs typeface="Microsoft JhengHei"/>
              </a:rPr>
              <a:t>GitHub: github.com/CdyTim630/ntu_water_map · Demo: ntuwatermap.vercel.app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BA63F-11A5-4BFA-AADB-E3BCB76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2C325-B35A-49A4-B2BF-D5642547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3316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C9999-17E1-4E23-AF5B-5CEEC1A7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E0544-6385-4F81-B9BD-2E538BCE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雨天校園移動需要的不只是地圖，而是「能避開水」的決策。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DAF58-46C8-4F1D-8B96-C9F54D2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3127-61A2-49DA-B76D-0F8A3D61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5E3CF-8C44-445E-B071-E09A3DE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積水資訊分散在社群、口耳相傳或臨時公告，缺少即時、可回饋的共同資料層。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F650F-E1B6-4969-AD06-8F831215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F12C7-780F-4FFE-A325-0CB89E44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Google Maps 不知道台大哪些路段有騎樓、走廊或低窪積水風險。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5B880-CD65-4562-8EA7-F0DF7989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9A87B-67DE-4C9D-8E93-48913AB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飲水機位置與狀態也常常只靠經驗，無法和日常通勤路線一起被使用。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37248-0D22-4846-83E9-08A3D88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2857500" cy="32575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99683-61B9-41D6-ACBC-715ADBC6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專案解法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02574-5032-4801-A6BA-BC37282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90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A1174-87C1-4475-9EE3-C83D9D8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622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回報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69620-18E5-48B8-8047-C1FB14B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校園積水 / 飲水機狀態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42256-9AEA-497D-817A-5FA9D566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190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568BC-209F-4931-A853-46AF216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rPr>
              <a:t>演算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1A14F-5452-45DB-8F1C-027C7DF9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434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雨勢加權路徑規劃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31AED-824F-4181-A777-B41AA55A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625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把「現在下雨、哪裡積水、怎麼走比較不濕」連成一個流程。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4CD9F-13EC-4656-8836-B93404A9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38EA0-EF70-42AA-BB5D-43F5E4DC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5336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4F670-CCCE-4484-B54C-D1F41955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SYSTEM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8B11D-6857-4353-BF6F-2C533756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產品把使用者動作一路接到資料、演算法與外部公開資料。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21DF5-7C22-4200-8269-677919D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E4775-B250-4DEB-95C6-89439FDC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24FB6-E16B-4B6E-BA4F-D8DE0CB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Client</a:t>
            </a:r>
          </a:p>
          <a:p xmlns:a="http://schemas.openxmlformats.org/drawingml/2006/main">
            <a:pPr algn="ctr">
              <a:defRPr sz="16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6 頁面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85D6E-DC2C-4FEE-830B-7EEB5D0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37059-75C5-4CD7-8085-CE94A322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API Routes</a:t>
            </a:r>
          </a:p>
          <a:p xmlns:a="http://schemas.openxmlformats.org/drawingml/2006/main">
            <a:pPr algn="ctr">
              <a:def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10 endpoints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FD25E-47CE-4725-8A45-4FA51214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BECB-63AF-41B7-BC22-0DA64A3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81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rPr>
              <a:t>演算法層</a:t>
            </a:r>
          </a:p>
          <a:p xmlns:a="http://schemas.openxmlformats.org/drawingml/2006/main">
            <a:pPr algn="ctr">
              <a:defRPr sz="16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rPr>
              <a:t>Dijkstra /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35AF7-5030-4DCA-9805-0C496B5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4E17D-7064-4952-9DB4-7FD3122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內部資料</a:t>
            </a:r>
          </a:p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Mock / 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EEF71-B08A-4BE0-8926-BA345B8E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876C6-15CA-464C-88C5-91E90A59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rPr>
              <a:t>外部資料</a:t>
            </a:r>
          </a:p>
          <a:p xmlns:a="http://schemas.openxmlformats.org/drawingml/2006/main">
            <a:pPr algn="ctr">
              <a:defRPr sz="16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rPr>
              <a:t>OSM / CWA / 北水處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3D25A-57FB-4068-BC90-3FA1F3D4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E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F599B-889B-4A39-B373-7DA3C38F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384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E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FB379-53ED-4220-98AC-DDB0BAB6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E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1D785-4A26-456A-A6D3-5EB67D7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3E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D8720-F6BE-40F4-AC6A-4C40A70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Heavy compute stays server-side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07482-DEA3-4F60-B57D-C83ADD5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3 MB GeoJSON、Dijkstra、CWA API proxy 不丟到瀏覽器，client 只負責互動地圖與 UI。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63204-E466-42FD-99C7-D36724DA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API key never ships to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987B6-3B63-47E8-9660-5B4CCD8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所有外部資料由 `/api/weather`、`/api/water-stations` 等 routes 代理，保留部署與安全彈性。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71056-CC29-401B-A886-A35B719E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A0498-68AE-44C9-9807-AD3E0EF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682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E96DA4-C2F5-440F-9FC0-2D306DA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CORE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25FCB-2FE1-4652-BD92-F3A5211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首頁把校園水況、回報入口與可飲水資訊放在同一張地圖上。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D6374-C706-467F-A194-024807E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E6894-C97F-4C3D-B529-69F9975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762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6ddf6cfb64c47"/>
          <a:stretch xmlns:a="http://schemas.openxmlformats.org/drawingml/2006/main"/>
        </p:blipFill>
        <p:spPr>
          <a:xfrm xmlns:a="http://schemas.openxmlformats.org/drawingml/2006/main">
            <a:off x="1125855" y="2000250"/>
            <a:ext cx="5730240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16B44-4C11-491D-BD88-9A39505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首頁 `/`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A446A-144E-4CD6-952D-0DDD224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2FFF-D1A1-4D27-9F03-98C14C2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地圖顯示所有 reports，支援篩選、回報與高風險地點排行。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F1896-7A21-427D-9E53-62D72872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D31DD-D549-48CD-B1EE-3DF09B96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Today Briefing 把雨勢與校園水況變成可讀摘要。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F3D67-7503-4127-95B8-8765DF6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E9782-4A41-450C-8ABB-5964D1BF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飲水機圖層讓「補水」也成為通勤決策的一部分。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B3CFC-CB69-43D2-A30E-F73BBEC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FE913-6692-4C69-970B-8F1D004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2435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2CDDB9-8107-4A51-BFB4-90F89E7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78EFF-6C8C-4045-91E8-3992D6F5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路徑規劃不只畫線，而是在真實 OSM 路網上計算最低淋雨成本。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6D5FA-C014-46A0-AE2F-BEC7905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CBE48-AAD9-422A-BF17-D4740B6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6172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e25299fc04bb6"/>
          <a:stretch xmlns:a="http://schemas.openxmlformats.org/drawingml/2006/main"/>
        </p:blipFill>
        <p:spPr>
          <a:xfrm xmlns:a="http://schemas.openxmlformats.org/drawingml/2006/main">
            <a:off x="819150" y="1952625"/>
            <a:ext cx="579120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BC0E7-3A62-4691-A0EC-3EFE55B6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Cost 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1E579-574F-4B35-A4FB-FCFB2F7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cost = d × (1 + r × (2.4(1-c) + 2.2l + 0.8f))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69E03-C5AB-4D39-8133-300B5DA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4B6AF-1139-4421-9CD9-60C5B46A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d：距離；r：雨勢；c：遮蔽率；l：低窪；f：目前積水回報。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9AECF-E4E0-4749-B5F5-72C66EAC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A13C6-0C33-4B78-8196-896A2B2A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同時顯示防雨建議路徑與最短路徑，讓使用者看懂取捨。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8CAD9-C36F-4AC4-BAD4-280D168E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64C9-A8F6-48BE-B3F9-350FA58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672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新回報會立即影響下一次 Dijkstra，形成眾包閉環。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75C1A-72F8-4F04-85FD-C86930C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52551-6C86-443D-A2F4-62627288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6069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1FB3F-A15F-48F3-8CB1-3CBBB6F5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97E83-CDF5-497F-BA1A-6772643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水災預警用 90 天回報密度乘上即時雨勢，預先標出熱區。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2872E-F575-471B-A90C-25E3C15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6F4A4-6F0F-4EAF-A867-2A2D79C8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103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12934714d4a07"/>
          <a:stretch xmlns:a="http://schemas.openxmlformats.org/drawingml/2006/main"/>
        </p:blipFill>
        <p:spPr>
          <a:xfrm xmlns:a="http://schemas.openxmlformats.org/drawingml/2006/main">
            <a:off x="973455" y="1943100"/>
            <a:ext cx="5882640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6E458-F932-4DAC-8042-B28AAB2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86B6E-73D9-4FD8-AB43-39EB7781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1 / 3 / 6 小時 horizon，讓使用者可以看趨勢而不是只看當下。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1A220-FC65-4BE5-8CAB-3682967E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81E07-B5B7-4040-92D8-9543B8AD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使用歷史回報密度、低窪區與 CWA 即時雨勢合成風險格網。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E88E3-E7B7-49EC-A54C-F63037A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E1D66-6166-475C-B926-48F388DF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熱點可跳回 `/route`，直接規劃避開高風險區域的路線。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A637-65AC-4FBA-B133-71FFF8A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A1EA1-EA5E-425C-93A9-219B883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092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823626-B6C4-4332-ADD8-B5A1C72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9B720-8FC1-4F41-9F21-AD616ED5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儀表板把零散回報轉成可以排序、追蹤與管理的校園水況指標。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B394-7D5D-4F9F-AB67-317BE319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71FBE-3CA4-41C4-9A53-A53920FE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6865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9c7f53bcd4e2b"/>
          <a:stretch xmlns:a="http://schemas.openxmlformats.org/drawingml/2006/main"/>
        </p:blipFill>
        <p:spPr>
          <a:xfrm xmlns:a="http://schemas.openxmlformats.org/drawingml/2006/main">
            <a:off x="1348220" y="1962150"/>
            <a:ext cx="5209309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552BC-E292-4F1D-9D0E-B858AE1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rPr>
              <a:t>risk_score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11382-37DF-4224-9324-ADF5D934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reports × 2 + high × 3 + recent7d ×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AA7AA-7C15-4B88-BC20-4315DF3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A3744-0F09-4691-B1E2-88B8894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KPI、趨勢、類別分布與高風險排行，支援管理端判斷優先處理順序。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1E120-C940-439F-A2D6-4537C56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1D05A-607A-4588-841D-E0DBA4A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576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飲水機健康狀態與 SLA 讓水資源維護也能被量化。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84FF3-7905-4EF3-8C18-D524D1A8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2C91F-6613-443E-985D-B991C7E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18986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16C66-3D26-4261-85B3-17BF9106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DA6E-7493-4320-B54A-EE25B422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個人頁把回報與雨天通勤變成可累積的日常行為。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3201-9878-4F68-B25B-A9222010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2D8BD-5286-4CB4-9DBA-609B57F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4767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2d9bcad824ae8"/>
          <a:stretch xmlns:a="http://schemas.openxmlformats.org/drawingml/2006/main"/>
        </p:blipFill>
        <p:spPr>
          <a:xfrm xmlns:a="http://schemas.openxmlformats.org/drawingml/2006/main">
            <a:off x="933450" y="2588121"/>
            <a:ext cx="4019550" cy="23866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40C4-CE05-4C48-9B2A-132615B8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讓資料變多的設計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D60CF-D71B-4491-A20B-C2F9568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88974-1821-4341-AC39-15B5D9A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Streak：每天打開或完成通勤路線可累積連續紀錄。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DB299-1C81-4637-8379-9E0907B2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83E3D-4F77-4B38-99C5-F0355F3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480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Badges：回報、確認、飲水機維護都能轉成可見成就。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36F3A-CC38-4798-9E31-03D239D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7BA5-7183-4966-82BB-F02ED7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LocalStorage demo 模式讓沒有登入系統時仍可展示完整體驗。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FCFAC-3FE6-499E-8DA6-B166F51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8369E-FADC-4CE5-9B4E-80209FB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2711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F1B62-5E6B-4514-BDC8-15ABAC91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369A1"/>
                </a:solidFill>
                <a:latin typeface="Microsoft JhengHei"/>
                <a:ea typeface="Microsoft JhengHei"/>
                <a:cs typeface="Microsoft JhengHei"/>
              </a:rPr>
              <a:t>DATA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45449-69C9-4545-BDA6-60E17CD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三個外部資料源加上內部回報，讓地圖有真實校園語境。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9B281-BD32-496B-811A-26F107F2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A65C2-0519-4A5F-84AB-ACBBA1A6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382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D0701-442C-4EF0-AA0F-97A0A3B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OpenStreetMap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44329-48E8-4878-A952-56440F8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校園路網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AD9B5-8DD1-4826-AA96-5E48553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Overpass 抓取 footway / path / service，推論 covered、lowLying、bikeAllowed。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76E2-CB2C-4A25-9656-1D0E80A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382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3272D-D6EF-4957-B3C0-59B6F70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B981"/>
                </a:solidFill>
                <a:latin typeface="Microsoft JhengHei"/>
                <a:ea typeface="Microsoft JhengHei"/>
                <a:cs typeface="Microsoft JhengHei"/>
              </a:rPr>
              <a:t>CWA OpenData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A8C13-6411-4B9C-A59C-A197CF8E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即時與預報雨勢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14AD6-418D-4FF0-963E-0D9939EA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Server-side proxy，供 `/api/weather`、路徑權重與預警熱區使用。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FDB91-7171-4EBE-A09A-F704433C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0382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72420-EF7E-46B7-872A-BCEBC7A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北水處 OpenData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73ADF-342D-4C40-A66E-E3C0CBD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飲水機水質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DCBF6-2DA0-4679-A374-B9DA79D9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與 OSM drinking_water 點位融合，顯示官方狀態與採樣時間。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7045C-0C52-44F7-8F59-3FF921EF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382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79738-A6E5-4A3B-B1D2-5961725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F4444"/>
                </a:solidFill>
                <a:latin typeface="Microsoft JhengHei"/>
                <a:ea typeface="Microsoft JhengHei"/>
                <a:cs typeface="Microsoft JhengHei"/>
              </a:rPr>
              <a:t>Mock / Supabase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2B376-E220-4B13-B228-1F88E4D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回報與確認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7C7CF-9A0D-4938-BD1F-58F466E5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Demo 可無後端運作；正式版可接 PostgreSQL、Storage 與 RLS。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5B032-5F7C-425A-B681-73E23B4C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4622D-C079-4865-8057-7281F6FA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8545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E6A0F-81AB-4E14-8AEF-796422B1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D93E7-5996-4DAA-95AD-C7DF032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下一步是把 demo 變成更可信、更即時、更能被校園採用的服務。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BC9DA-0D97-4B28-ADDC-A2D80816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5AE3F-C17A-4A27-AF64-854B800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rPr>
              <a:t>接入 NTU SSO 或 Magic Link，取代目前管理端密碼模式。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B1A74-DCE0-4E90-986B-1FC24054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76C78-02EC-462C-97A4-0053C833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rPr>
              <a:t>加入 Web Push：雨勢升高或常走路線出現積水時主動提醒。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4A41F-0488-4F86-AF3D-78DA41C1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2B84D-BC10-4AED-9573-73F317D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rPr>
              <a:t>累積 1,000+ 回報後導入 ML，從 rule-based 預警升級到資料驅動預測。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7B331-5D4F-42A1-A269-0C1AE712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76B0E-24B7-463E-B0E5-77F29613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</a:rPr>
              <a:t>開放校園水資源 API，讓其他服務也能使用回報與飲水機資料。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F324F-CF1F-4A5E-B9FC-A4EB2DC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14900"/>
            <a:ext cx="4191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B122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D0BAE-DAA9-4084-A664-88F952D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FE8F8"/>
                </a:solidFill>
                <a:latin typeface="Microsoft JhengHei"/>
                <a:ea typeface="Microsoft JhengHei"/>
                <a:cs typeface="Microsoft JhengHei"/>
              </a:rPr>
              <a:t>核心結論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BD118-8ED0-42FF-B767-8E198213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Next.js + Leaflet + OSM + Dijkstra 已能做出可立即使用的雨天校園工具。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251EC-369C-48BC-987A-842F952A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EA5E9">
              <a:alpha val="12549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EA5E9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38E65-D2D5-48E9-B26E-71F74CFC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NTU Water Risk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0A9CF-0162-47AB-9FAC-E4A30BB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8598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2026-06-03T05:26:30.8150000Z</dcterms:created>
  <dcterms:modified xsi:type="dcterms:W3CDTF">2026-06-03T05:26:30.8150000Z</dcterms:modified>
</coreProperties>
</file>